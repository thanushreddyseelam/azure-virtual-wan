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340" r:id="rId5"/>
    <p:sldId id="356" r:id="rId6"/>
    <p:sldId id="343" r:id="rId7"/>
    <p:sldId id="342" r:id="rId8"/>
    <p:sldId id="350" r:id="rId9"/>
    <p:sldId id="354" r:id="rId10"/>
    <p:sldId id="358" r:id="rId11"/>
    <p:sldId id="357" r:id="rId12"/>
    <p:sldId id="35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35D"/>
    <a:srgbClr val="F9E0B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E171933-4619-4E11-9A3F-F7608DF75F80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 autoAdjust="0"/>
  </p:normalViewPr>
  <p:slideViewPr>
    <p:cSldViewPr snapToGrid="0">
      <p:cViewPr varScale="1">
        <p:scale>
          <a:sx n="87" d="100"/>
          <a:sy n="87" d="100"/>
        </p:scale>
        <p:origin x="408" y="77"/>
      </p:cViewPr>
      <p:guideLst/>
    </p:cSldViewPr>
  </p:slideViewPr>
  <p:outlineViewPr>
    <p:cViewPr>
      <p:scale>
        <a:sx n="33" d="100"/>
        <a:sy n="33" d="100"/>
      </p:scale>
      <p:origin x="0" y="-1137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6264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482B951-AFFF-3499-FDE3-02A7F0BD15F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E5896A-FCE2-110F-B202-A8E435372D6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E69F83-204D-4778-AAD0-A0F851A3AEEE}" type="datetimeFigureOut">
              <a:rPr lang="en-US" smtClean="0"/>
              <a:t>9/26/2026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1BFBA0-47AD-543A-6AE4-769D8F86580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8FC355-FEF6-ED8F-8D0E-F362E204A0F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669D59-B021-49CB-887D-52B8FEE1CE1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70690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E3C21-C3CB-4B8D-9033-56C1B3CE75FA}" type="datetimeFigureOut">
              <a:rPr lang="en-US" smtClean="0"/>
              <a:t>9/26/2026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732C3C-A191-48C2-A7E8-9C96AF841A7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6394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60483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939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3993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33557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47715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1185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BECDFC6B-0742-962E-44A1-19C9C173BB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0848" y="425303"/>
            <a:ext cx="11305217" cy="6007394"/>
          </a:xfrm>
          <a:prstGeom prst="rect">
            <a:avLst/>
          </a:prstGeom>
          <a:effectLst/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0001" y="633046"/>
            <a:ext cx="10571998" cy="3366198"/>
          </a:xfrm>
          <a:ln>
            <a:noFill/>
          </a:ln>
          <a:effectLst/>
        </p:spPr>
        <p:txBody>
          <a:bodyPr/>
          <a:lstStyle>
            <a:lvl1pPr algn="ctr">
              <a:defRPr sz="7200" b="1" spc="-300" baseline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236985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ADBC817-DA57-A518-5544-0D3B819C70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4670"/>
            <a:ext cx="11320130" cy="601802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4873FFF3-C7B6-C678-1B03-17FBD0D5AC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6174" y="425303"/>
            <a:ext cx="5379242" cy="598343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4217" y="924167"/>
            <a:ext cx="4383156" cy="5009322"/>
          </a:xfrm>
          <a:solidFill>
            <a:schemeClr val="accent1">
              <a:lumMod val="50000"/>
            </a:schemeClr>
          </a:solidFill>
          <a:effectLst>
            <a:outerShdw blurRad="254000" dist="50800" dir="2700000" algn="ctr" rotWithShape="0">
              <a:prstClr val="black">
                <a:alpha val="25000"/>
              </a:prstClr>
            </a:outerShdw>
          </a:effectLst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D0FE23B-34E3-BAAF-E01D-BE221B4A94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00800" y="924512"/>
            <a:ext cx="4750904" cy="5008977"/>
          </a:xfrm>
        </p:spPr>
        <p:txBody>
          <a:bodyPr/>
          <a:lstStyle>
            <a:lvl1pPr marL="0" indent="0">
              <a:buNone/>
              <a:defRPr/>
            </a:lvl1pPr>
            <a:lvl2pPr marL="742950" indent="-285750"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543050" indent="-171450">
              <a:buFont typeface="Arial" panose="020B0604020202020204" pitchFamily="34" charset="0"/>
              <a:buChar char="•"/>
              <a:defRPr/>
            </a:lvl4pPr>
            <a:lvl5pPr marL="2000250" indent="-1714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779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105E210-05B5-5EA1-C778-30BB3A4942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9987"/>
            <a:ext cx="11320130" cy="601802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8792193-1165-3487-6FB9-133CB518C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3090924" y="-2235006"/>
            <a:ext cx="6010147" cy="11320132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0001" y="1741064"/>
            <a:ext cx="10571998" cy="1928264"/>
          </a:xfrm>
          <a:ln>
            <a:noFill/>
          </a:ln>
          <a:effectLst/>
        </p:spPr>
        <p:txBody>
          <a:bodyPr/>
          <a:lstStyle>
            <a:lvl1pPr algn="ctr">
              <a:defRPr sz="3600" spc="0" baseline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10000" y="3694102"/>
            <a:ext cx="10572000" cy="896468"/>
          </a:xfrm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480000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1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905615-9FD2-EBB3-89AB-555B373EBB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23955" y="414670"/>
            <a:ext cx="7132110" cy="601802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B638DB-3E00-7F4B-D4B7-9D7F090563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0459" y="420624"/>
            <a:ext cx="4183496" cy="601675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0EED07-CDD5-9244-28FA-5195E67951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35934" y="422551"/>
            <a:ext cx="4183495" cy="601014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717" y="924339"/>
            <a:ext cx="3990110" cy="5009322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B5AB4E8D-8B32-8B00-8152-856C592BAB3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346793" y="924340"/>
            <a:ext cx="5684373" cy="5009322"/>
          </a:xfrm>
          <a:effectLst/>
        </p:spPr>
        <p:txBody>
          <a:bodyPr lIns="0" rIns="0" anchor="ctr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1pPr>
            <a:lvl2pPr marL="4572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2pPr>
            <a:lvl3pPr marL="9144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3pPr>
            <a:lvl4pPr marL="13716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4pPr>
            <a:lvl5pPr marL="18288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37692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F4A700F-42CA-D7A9-D709-C0017521B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4670"/>
            <a:ext cx="11320130" cy="6018027"/>
          </a:xfrm>
          <a:prstGeom prst="rect">
            <a:avLst/>
          </a:prstGeom>
          <a:solidFill>
            <a:srgbClr val="F9E0B9"/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61DA139-D8FD-A752-758D-4F836DFB2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1353" t="-388" r="-1" b="-254"/>
          <a:stretch/>
        </p:blipFill>
        <p:spPr>
          <a:xfrm rot="16200000" flipH="1">
            <a:off x="210940" y="1589892"/>
            <a:ext cx="5245922" cy="3667583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5516" y="1433219"/>
            <a:ext cx="5695102" cy="2092049"/>
          </a:xfrm>
          <a:noFill/>
          <a:effectLst/>
        </p:spPr>
        <p:txBody>
          <a:bodyPr anchor="b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96F37D4-7152-EA75-8D7D-D8F7D6DD9C4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350099" y="1974707"/>
            <a:ext cx="2907792" cy="2907792"/>
          </a:xfrm>
          <a:solidFill>
            <a:srgbClr val="F9E0B9"/>
          </a:solidFill>
          <a:effectLst/>
        </p:spPr>
        <p:txBody>
          <a:bodyPr anchor="t"/>
          <a:lstStyle>
            <a:lvl1pPr marL="0" indent="0" algn="ctr">
              <a:buNone/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AFBE5B12-0D10-DA99-093A-2C4FB738B21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496789" y="3525268"/>
            <a:ext cx="5683829" cy="2595429"/>
          </a:xfrm>
          <a:effectLst/>
        </p:spPr>
        <p:txBody>
          <a:bodyPr anchor="t"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b="1">
                <a:solidFill>
                  <a:schemeClr val="accent1">
                    <a:lumMod val="50000"/>
                  </a:schemeClr>
                </a:solidFill>
              </a:defRPr>
            </a:lvl1pPr>
            <a:lvl2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79950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81D7C89-8451-1944-C2B3-53AADAC99A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1678" y="422551"/>
            <a:ext cx="4223822" cy="60101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6B15EB-5194-C74B-F881-D3DCBE854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35499" y="422551"/>
            <a:ext cx="7144823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935" y="633845"/>
            <a:ext cx="3990110" cy="2192482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15614EF-4CFA-2D69-0F78-9D7409E2337E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47423" y="3174531"/>
            <a:ext cx="3772622" cy="3122360"/>
          </a:xfrm>
          <a:effectLst/>
        </p:spPr>
        <p:txBody>
          <a:bodyPr rIns="274320" anchor="t"/>
          <a:lstStyle>
            <a:lvl1pPr marL="283464" indent="-28346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7D6637B-A7C5-34FF-5B51-32392DAEABB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237732" y="946205"/>
            <a:ext cx="5971020" cy="5161655"/>
          </a:xfrm>
        </p:spPr>
        <p:txBody>
          <a:bodyPr/>
          <a:lstStyle/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3164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3E625C-F0A4-564D-CEE2-6B3595CEB0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61889" y="0"/>
            <a:ext cx="6230111" cy="685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7445" y="157637"/>
            <a:ext cx="4851694" cy="2190705"/>
          </a:xfrm>
          <a:noFill/>
          <a:effectLst/>
        </p:spPr>
        <p:txBody>
          <a:bodyPr anchor="b"/>
          <a:lstStyle>
            <a:lvl1pPr algn="l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4D8C78-00C3-F3D7-17C3-F1667E463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0999" y="422551"/>
            <a:ext cx="5124893" cy="60101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c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13E61FD-F54A-5F86-FCED-3BD4C8AA42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1353" t="-388" r="-1" b="-254"/>
          <a:stretch/>
        </p:blipFill>
        <p:spPr>
          <a:xfrm flipH="1">
            <a:off x="659106" y="3429000"/>
            <a:ext cx="4589830" cy="278041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9F0290F-2D31-F9FB-AD35-B76947AF14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36863" y="776532"/>
            <a:ext cx="3434316" cy="501821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347A5B6-0F99-C044-C209-F3190EEFA37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36663" y="776288"/>
            <a:ext cx="3433762" cy="5018087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0E96890F-0832-5087-193F-70CF33DEE0A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592615" y="2505979"/>
            <a:ext cx="4837385" cy="3926717"/>
          </a:xfrm>
          <a:effectLst/>
        </p:spPr>
        <p:txBody>
          <a:bodyPr anchor="t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marL="285750" marR="0" lvl="0" indent="-2857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36681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4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36DB3CB-355C-968A-7F5F-71E035040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2" y="0"/>
            <a:ext cx="12192001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81D7C89-8451-1944-C2B3-53AADAC99A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1678" y="422551"/>
            <a:ext cx="4223822" cy="60101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6B15EB-5194-C74B-F881-D3DCBE854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35499" y="422551"/>
            <a:ext cx="7144823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935" y="924339"/>
            <a:ext cx="3990110" cy="5009322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7D6637B-A7C5-34FF-5B51-32392DAEABB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153836" y="1371602"/>
            <a:ext cx="6177309" cy="1953489"/>
          </a:xfrm>
          <a:effectLst/>
        </p:spPr>
        <p:txBody>
          <a:bodyPr anchor="t"/>
          <a:lstStyle>
            <a:lvl1pPr marL="283464" indent="-283464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1pPr>
            <a:lvl2pPr marL="742950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1430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3pPr>
            <a:lvl4pPr marL="16002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4pPr>
            <a:lvl5pPr marL="20574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087279F-936E-0F41-B533-7990D668D7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153836" y="3446156"/>
            <a:ext cx="6177309" cy="0"/>
          </a:xfrm>
          <a:prstGeom prst="line">
            <a:avLst/>
          </a:prstGeom>
          <a:ln w="1905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CDD03AA1-6D53-FEB1-9B22-57C1066DA33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53836" y="3745924"/>
            <a:ext cx="6177309" cy="2238918"/>
          </a:xfrm>
          <a:effectLst/>
        </p:spPr>
        <p:txBody>
          <a:bodyPr anchor="t"/>
          <a:lstStyle>
            <a:lvl1pPr marL="283464" indent="-283464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1pPr>
            <a:lvl2pPr marL="742950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1430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3pPr>
            <a:lvl4pPr marL="16002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4pPr>
            <a:lvl5pPr marL="20574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9371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59176A3-24B8-086B-739F-2B3DCE8BE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6999" y="-2654300"/>
            <a:ext cx="6858000" cy="121666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A96EFAA-0851-646A-8758-C20243901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422551"/>
            <a:ext cx="11424920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0001" y="685800"/>
            <a:ext cx="10571998" cy="2983528"/>
          </a:xfrm>
          <a:effectLst/>
        </p:spPr>
        <p:txBody>
          <a:bodyPr/>
          <a:lstStyle>
            <a:lvl1pPr algn="ctr">
              <a:defRPr sz="3600" spc="0" baseline="0"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023403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12B799F-04B8-4A62-EB7D-F17311231B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56500" y="0"/>
            <a:ext cx="4635500" cy="685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F310BE-5861-E73D-5979-D11A971516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0270" y="487680"/>
            <a:ext cx="6482080" cy="59029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12F5E6-EC22-5E10-94FB-5E546A7B91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95630" y="477518"/>
            <a:ext cx="6482079" cy="5913121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6952" y="477518"/>
            <a:ext cx="3829465" cy="2693887"/>
          </a:xfrm>
          <a:noFill/>
          <a:effectLst/>
        </p:spPr>
        <p:txBody>
          <a:bodyPr anchor="b"/>
          <a:lstStyle>
            <a:lvl1pPr algn="l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14BBA88A-FAA8-CE13-2A76-BF8B014AE343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952500" y="909638"/>
            <a:ext cx="5578475" cy="5038725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0E96890F-0832-5087-193F-70CF33DEE0A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036953" y="3449781"/>
            <a:ext cx="3829465" cy="2940860"/>
          </a:xfrm>
          <a:effectLst/>
        </p:spPr>
        <p:txBody>
          <a:bodyPr anchor="t"/>
          <a:lstStyle>
            <a:lvl1pPr marL="285750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12818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59176A3-24B8-086B-739F-2B3DCE8BE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6999" y="-2654300"/>
            <a:ext cx="6858000" cy="121666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A96EFAA-0851-646A-8758-C20243901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422551"/>
            <a:ext cx="11424920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8373" y="571501"/>
            <a:ext cx="11139054" cy="1028699"/>
          </a:xfrm>
          <a:effectLst/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Table Placeholder 10">
            <a:extLst>
              <a:ext uri="{FF2B5EF4-FFF2-40B4-BE49-F238E27FC236}">
                <a16:creationId xmlns:a16="http://schemas.microsoft.com/office/drawing/2014/main" id="{E10735F5-6B7D-348D-AC70-8BC10CB5F70A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838200" y="1860550"/>
            <a:ext cx="10515600" cy="4198938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26347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FDAFCA1-BDD9-1108-8F95-E3FC1A7935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0" y="0"/>
            <a:ext cx="11532896" cy="6858000"/>
            <a:chOff x="659106" y="0"/>
            <a:chExt cx="11532896" cy="6858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4BFDB24-6BE4-2FC0-F772-DC1DE926E485}"/>
                </a:ext>
              </a:extLst>
            </p:cNvPr>
            <p:cNvSpPr/>
            <p:nvPr/>
          </p:nvSpPr>
          <p:spPr>
            <a:xfrm>
              <a:off x="5995086" y="0"/>
              <a:ext cx="6196916" cy="6858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  <a:effectLst>
              <a:outerShdw blurRad="254000" dist="50800" dir="2700000" algn="tl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131EABEA-AB8A-5E4C-A6DD-8F32B70E90A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-1353" t="-388" r="-1" b="-254"/>
            <a:stretch/>
          </p:blipFill>
          <p:spPr>
            <a:xfrm flipH="1">
              <a:off x="659106" y="1956391"/>
              <a:ext cx="4878094" cy="2780414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2279AAC-0D81-D3CD-3F0F-E8CEE0F56D43}"/>
                </a:ext>
              </a:extLst>
            </p:cNvPr>
            <p:cNvSpPr/>
            <p:nvPr/>
          </p:nvSpPr>
          <p:spPr>
            <a:xfrm>
              <a:off x="1328303" y="776532"/>
              <a:ext cx="3434316" cy="5018212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</p:grp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7542" y="132080"/>
            <a:ext cx="4928894" cy="6507711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720B2D-C199-57FA-9453-DBFB607BA9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29500" y="992188"/>
            <a:ext cx="3425825" cy="5018087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98586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lumns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B11222B-29F6-BF2A-09DE-82F659638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6999" y="-2654300"/>
            <a:ext cx="6858000" cy="1216660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035F993-EADB-1C5A-7158-41E510B706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422551"/>
            <a:ext cx="11424920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12E34E-DBAF-BA5D-15D9-E69A055357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1889759"/>
            <a:ext cx="11424920" cy="454293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935" y="571499"/>
            <a:ext cx="11118274" cy="1154114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0BF6A552-CE6A-3977-8507-74A1C4C4B5A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41667" y="2461056"/>
            <a:ext cx="3626424" cy="3721535"/>
          </a:xfrm>
          <a:effectLst/>
        </p:spPr>
        <p:txBody>
          <a:bodyPr anchor="t">
            <a:normAutofit/>
          </a:bodyPr>
          <a:lstStyle>
            <a:lvl1pPr marL="285750" indent="-285750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800"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400"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200"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200"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4C80689F-A123-F6D7-2AA8-9166317EF424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995282" y="2440275"/>
            <a:ext cx="5164553" cy="3721534"/>
          </a:xfrm>
          <a:effectLst/>
        </p:spPr>
        <p:txBody>
          <a:bodyPr anchor="t">
            <a:norm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accent1">
                  <a:lumMod val="50000"/>
                </a:schemeClr>
              </a:buClr>
              <a:buFont typeface="+mj-lt"/>
              <a:buAutoNum type="arabicPeriod"/>
              <a:defRPr sz="1800" b="1">
                <a:solidFill>
                  <a:schemeClr val="accent1">
                    <a:lumMod val="50000"/>
                  </a:schemeClr>
                </a:solidFill>
              </a:defRPr>
            </a:lvl1pPr>
            <a:lvl2pPr marL="347472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182021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F4DCF8-BA15-AB79-2D14-040F5A063B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4670"/>
            <a:ext cx="11320130" cy="601802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D22DD7-291D-E347-8A4C-07E31E681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3092299" y="-2231063"/>
            <a:ext cx="6007395" cy="11320129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0660" y="1017858"/>
            <a:ext cx="10650681" cy="2719255"/>
          </a:xfrm>
          <a:noFill/>
          <a:effectLst/>
        </p:spPr>
        <p:txBody>
          <a:bodyPr anchor="b"/>
          <a:lstStyle>
            <a:lvl1pPr algn="ctr">
              <a:defRPr sz="7200" spc="-300" baseline="0"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D0FE23B-34E3-BAAF-E01D-BE221B4A94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70660" y="4042066"/>
            <a:ext cx="10650681" cy="2296843"/>
          </a:xfrm>
          <a:effectLst/>
        </p:spPr>
        <p:txBody>
          <a:bodyPr anchor="t"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272508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86F7BD38-A805-4B2C-9BDF-D56E94387879}" type="datetime1">
              <a:rPr lang="en-US" smtClean="0"/>
              <a:t>9/26/2026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tx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6" r:id="rId1"/>
    <p:sldLayoutId id="2147483668" r:id="rId2"/>
    <p:sldLayoutId id="2147483669" r:id="rId3"/>
    <p:sldLayoutId id="2147483684" r:id="rId4"/>
    <p:sldLayoutId id="2147483672" r:id="rId5"/>
    <p:sldLayoutId id="2147483687" r:id="rId6"/>
    <p:sldLayoutId id="2147483671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85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 baseline="0">
          <a:ln>
            <a:noFill/>
          </a:ln>
          <a:solidFill>
            <a:srgbClr val="FEFEFE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762A4-2E4B-23FB-9F8B-D54C0F90A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1" y="2321169"/>
            <a:ext cx="10571998" cy="3366198"/>
          </a:xfrm>
        </p:spPr>
        <p:txBody>
          <a:bodyPr/>
          <a:lstStyle/>
          <a:p>
            <a:r>
              <a:rPr lang="en-IN" sz="5400" dirty="0"/>
              <a:t>Azure Virtual WAN Design Study for Multi-Site Connectivity</a:t>
            </a:r>
            <a:br>
              <a:rPr lang="en-IN" dirty="0"/>
            </a:br>
            <a:endParaRPr lang="en-U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D35122-1A9A-B884-AA6B-1ACE8D115E6E}"/>
              </a:ext>
            </a:extLst>
          </p:cNvPr>
          <p:cNvSpPr txBox="1"/>
          <p:nvPr/>
        </p:nvSpPr>
        <p:spPr>
          <a:xfrm>
            <a:off x="5292970" y="1925516"/>
            <a:ext cx="148790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8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Title:</a:t>
            </a:r>
          </a:p>
        </p:txBody>
      </p:sp>
    </p:spTree>
    <p:extLst>
      <p:ext uri="{BB962C8B-B14F-4D97-AF65-F5344CB8AC3E}">
        <p14:creationId xmlns:p14="http://schemas.microsoft.com/office/powerpoint/2010/main" val="431835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2DE12-5039-13CB-0E8E-28DC50889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217" y="924339"/>
            <a:ext cx="4383156" cy="5009322"/>
          </a:xfrm>
        </p:spPr>
        <p:txBody>
          <a:bodyPr/>
          <a:lstStyle/>
          <a:p>
            <a:pPr algn="l"/>
            <a:r>
              <a:rPr lang="en-US" sz="1600" dirty="0"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 Seelam </a:t>
            </a:r>
            <a:r>
              <a:rPr lang="en-US" sz="1600" dirty="0" err="1"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Thanush</a:t>
            </a:r>
            <a:r>
              <a:rPr lang="en-US" sz="1600" dirty="0"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 Reddy – 2400090160</a:t>
            </a:r>
            <a:br>
              <a:rPr lang="en-US" sz="1600" dirty="0"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</a:br>
            <a:br>
              <a:rPr lang="en-US" sz="1600" dirty="0"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</a:br>
            <a:r>
              <a:rPr lang="en-US" sz="1600" dirty="0"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 Tummala Himesh – 2400090192</a:t>
            </a:r>
            <a:br>
              <a:rPr lang="en-US" sz="1600" dirty="0"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</a:br>
            <a:br>
              <a:rPr lang="en-US" sz="1600" dirty="0"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</a:br>
            <a:r>
              <a:rPr lang="en-US" sz="1600" dirty="0"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 Devagiri </a:t>
            </a:r>
            <a:r>
              <a:rPr lang="en-US" sz="1600" dirty="0" err="1"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Vangmai</a:t>
            </a:r>
            <a:r>
              <a:rPr lang="en-US" sz="1600" dirty="0"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 – 2400090199</a:t>
            </a:r>
            <a:br>
              <a:rPr lang="en-US" sz="1600" dirty="0"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</a:br>
            <a:br>
              <a:rPr lang="en-US" sz="1600" dirty="0"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</a:br>
            <a:r>
              <a:rPr lang="en-US" sz="1600" dirty="0"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 Ambati Lahari Naga Sai - 2400090177</a:t>
            </a:r>
            <a:br>
              <a:rPr lang="en-US" dirty="0"/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01FFB9-6CB6-9C13-0E51-1EACC1D7B907}"/>
              </a:ext>
            </a:extLst>
          </p:cNvPr>
          <p:cNvSpPr txBox="1"/>
          <p:nvPr/>
        </p:nvSpPr>
        <p:spPr>
          <a:xfrm>
            <a:off x="1040296" y="1494691"/>
            <a:ext cx="18646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Project team: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24F6FE-75F2-60A1-83A3-100E9369D170}"/>
              </a:ext>
            </a:extLst>
          </p:cNvPr>
          <p:cNvSpPr txBox="1"/>
          <p:nvPr/>
        </p:nvSpPr>
        <p:spPr>
          <a:xfrm>
            <a:off x="6005147" y="971471"/>
            <a:ext cx="29193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Roles In Project: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33CECF-4873-4BE2-7C12-178289177FB7}"/>
              </a:ext>
            </a:extLst>
          </p:cNvPr>
          <p:cNvSpPr txBox="1"/>
          <p:nvPr/>
        </p:nvSpPr>
        <p:spPr>
          <a:xfrm>
            <a:off x="6096000" y="2286264"/>
            <a:ext cx="4373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Azure Student/Free Services &amp; Credits</a:t>
            </a:r>
            <a:endParaRPr lang="en-IN" dirty="0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9DFE3A86-CA22-A301-2CDB-993608DE797A}"/>
              </a:ext>
            </a:extLst>
          </p:cNvPr>
          <p:cNvSpPr/>
          <p:nvPr/>
        </p:nvSpPr>
        <p:spPr>
          <a:xfrm>
            <a:off x="4911066" y="2343374"/>
            <a:ext cx="1094079" cy="2551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C13C230E-9E84-0CCF-6451-52AE61C3D762}"/>
              </a:ext>
            </a:extLst>
          </p:cNvPr>
          <p:cNvSpPr/>
          <p:nvPr/>
        </p:nvSpPr>
        <p:spPr>
          <a:xfrm>
            <a:off x="4906483" y="2870925"/>
            <a:ext cx="1098662" cy="2551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0EDBAD7C-D472-D7D5-D54D-AB49E1E6EDFD}"/>
              </a:ext>
            </a:extLst>
          </p:cNvPr>
          <p:cNvSpPr/>
          <p:nvPr/>
        </p:nvSpPr>
        <p:spPr>
          <a:xfrm>
            <a:off x="4906483" y="3313721"/>
            <a:ext cx="1098663" cy="2551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DBCF8BBC-3879-664A-607C-2FE92AD9B664}"/>
              </a:ext>
            </a:extLst>
          </p:cNvPr>
          <p:cNvSpPr/>
          <p:nvPr/>
        </p:nvSpPr>
        <p:spPr>
          <a:xfrm>
            <a:off x="4906483" y="3756517"/>
            <a:ext cx="1189516" cy="2551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0C4764-D55D-7147-6F47-E1320CDBA3BC}"/>
              </a:ext>
            </a:extLst>
          </p:cNvPr>
          <p:cNvSpPr txBox="1"/>
          <p:nvPr/>
        </p:nvSpPr>
        <p:spPr>
          <a:xfrm>
            <a:off x="6148615" y="2835081"/>
            <a:ext cx="2632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Virtual WAN Feasibility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18465D-1AF0-B430-34EE-1AD8EEA2EAA6}"/>
              </a:ext>
            </a:extLst>
          </p:cNvPr>
          <p:cNvSpPr txBox="1"/>
          <p:nvPr/>
        </p:nvSpPr>
        <p:spPr>
          <a:xfrm>
            <a:off x="6186856" y="3289218"/>
            <a:ext cx="3222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Hub-and-Spoke Alternative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3C24483-47D9-8714-C87D-19CC4F42064B}"/>
              </a:ext>
            </a:extLst>
          </p:cNvPr>
          <p:cNvSpPr txBox="1"/>
          <p:nvPr/>
        </p:nvSpPr>
        <p:spPr>
          <a:xfrm>
            <a:off x="6186856" y="3743355"/>
            <a:ext cx="3329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Cost, Limits &amp; Final Feasibility</a:t>
            </a:r>
          </a:p>
        </p:txBody>
      </p:sp>
    </p:spTree>
    <p:extLst>
      <p:ext uri="{BB962C8B-B14F-4D97-AF65-F5344CB8AC3E}">
        <p14:creationId xmlns:p14="http://schemas.microsoft.com/office/powerpoint/2010/main" val="134193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ECDD0-17F6-3312-AE6D-F7EB95E46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717" y="924339"/>
            <a:ext cx="3990110" cy="5009322"/>
          </a:xfrm>
        </p:spPr>
        <p:txBody>
          <a:bodyPr/>
          <a:lstStyle/>
          <a:p>
            <a:r>
              <a:rPr lang="en-IN" sz="40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Problem Statement</a:t>
            </a:r>
            <a:endParaRPr lang="en-US" sz="40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36AA5-9DDA-DA9A-5469-6885A5A84D1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46793" y="924340"/>
            <a:ext cx="5684373" cy="5009322"/>
          </a:xfrm>
        </p:spPr>
        <p:txBody>
          <a:bodyPr>
            <a:normAutofit fontScale="92500"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Organizations with multiple campuses and Azure workloads need reliable connectivity between their locations and cloud resources. Traditional networking can require complex VPN connections and routing configurations.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This project investigates whether </a:t>
            </a:r>
            <a:r>
              <a:rPr lang="en-IN" b="1" dirty="0"/>
              <a:t>Azure Virtual WAN</a:t>
            </a:r>
            <a:r>
              <a:rPr lang="en-IN" dirty="0"/>
              <a:t> can provide a centralized and scalable solution for connecting multiple campuses and Azure </a:t>
            </a:r>
            <a:r>
              <a:rPr lang="en-IN" dirty="0" err="1"/>
              <a:t>VNets</a:t>
            </a:r>
            <a:r>
              <a:rPr lang="en-IN" dirty="0"/>
              <a:t>.</a:t>
            </a:r>
          </a:p>
          <a:p>
            <a:r>
              <a:rPr lang="en-IN" b="1" dirty="0"/>
              <a:t>The study also considers two practical challenges: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Virtual WAN can be expensive for a small number of sites.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Advanced routing, particularly Routing Intent, can be complex to configure and manage.</a:t>
            </a:r>
          </a:p>
          <a:p>
            <a:endParaRPr lang="en-IN" dirty="0"/>
          </a:p>
          <a:p>
            <a:pPr lv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59076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CF8F5-609D-E31E-6659-2E3CE6309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86" y="466527"/>
            <a:ext cx="10571998" cy="641651"/>
          </a:xfrm>
        </p:spPr>
        <p:txBody>
          <a:bodyPr/>
          <a:lstStyle/>
          <a:p>
            <a:pPr lvl="0"/>
            <a:r>
              <a:rPr lang="en-US" dirty="0"/>
              <a:t>Architecture</a:t>
            </a:r>
            <a:endParaRPr lang="en-US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FC1136-CCD2-00FC-D64E-237FE70B80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2132" y="1274884"/>
            <a:ext cx="9952892" cy="4730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936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97DFA-9278-9CB6-C5BC-520AB107B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1" y="474784"/>
            <a:ext cx="10571998" cy="706320"/>
          </a:xfrm>
        </p:spPr>
        <p:txBody>
          <a:bodyPr/>
          <a:lstStyle/>
          <a:p>
            <a:pPr lvl="0"/>
            <a:r>
              <a:rPr lang="en-IN" dirty="0"/>
              <a:t>Main Azure Services</a:t>
            </a:r>
            <a:endParaRPr lang="en-US" noProof="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33E15B0-3A41-4BD6-F40B-E18C257DFB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0034136"/>
              </p:ext>
            </p:extLst>
          </p:nvPr>
        </p:nvGraphicFramePr>
        <p:xfrm>
          <a:off x="1881554" y="1485899"/>
          <a:ext cx="8568592" cy="4508886"/>
        </p:xfrm>
        <a:graphic>
          <a:graphicData uri="http://schemas.openxmlformats.org/drawingml/2006/table">
            <a:tbl>
              <a:tblPr firstRow="1" bandRow="1">
                <a:tableStyleId>{1E171933-4619-4E11-9A3F-F7608DF75F80}</a:tableStyleId>
              </a:tblPr>
              <a:tblGrid>
                <a:gridCol w="4284296">
                  <a:extLst>
                    <a:ext uri="{9D8B030D-6E8A-4147-A177-3AD203B41FA5}">
                      <a16:colId xmlns:a16="http://schemas.microsoft.com/office/drawing/2014/main" val="487259318"/>
                    </a:ext>
                  </a:extLst>
                </a:gridCol>
                <a:gridCol w="4284296">
                  <a:extLst>
                    <a:ext uri="{9D8B030D-6E8A-4147-A177-3AD203B41FA5}">
                      <a16:colId xmlns:a16="http://schemas.microsoft.com/office/drawing/2014/main" val="2904959568"/>
                    </a:ext>
                  </a:extLst>
                </a:gridCol>
              </a:tblGrid>
              <a:tr h="3700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Service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Role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4220520"/>
                  </a:ext>
                </a:extLst>
              </a:tr>
              <a:tr h="3700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Azure Virtual WAN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Overall multi-site networking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4799067"/>
                  </a:ext>
                </a:extLst>
              </a:tr>
              <a:tr h="3700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Virtual Hub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Central connectivity and routing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7605443"/>
                  </a:ext>
                </a:extLst>
              </a:tr>
              <a:tr h="3700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VPN Gateway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Connects campus sites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0334200"/>
                  </a:ext>
                </a:extLst>
              </a:tr>
              <a:tr h="3700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VPN Sites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Represents the 3 campuses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9266647"/>
                  </a:ext>
                </a:extLst>
              </a:tr>
              <a:tr h="3700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Azure VNet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Represents the 2 cloud networks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9926371"/>
                  </a:ext>
                </a:extLst>
              </a:tr>
              <a:tr h="3700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VNet Connections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Connect VNets to Virtual Hub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0924113"/>
                  </a:ext>
                </a:extLst>
              </a:tr>
              <a:tr h="6386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Hub Routing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Controls traffic between sites and VNets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5602317"/>
                  </a:ext>
                </a:extLst>
              </a:tr>
              <a:tr h="6386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Network Watcher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Connectivity testing/troubleshooting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9328848"/>
                  </a:ext>
                </a:extLst>
              </a:tr>
              <a:tr h="6386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Azure Firewall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Optional security and Routing Intent demonstration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4633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21476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E1BB1-C5B6-C34A-6087-486828876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935" y="571499"/>
            <a:ext cx="11118274" cy="1154114"/>
          </a:xfrm>
        </p:spPr>
        <p:txBody>
          <a:bodyPr/>
          <a:lstStyle/>
          <a:p>
            <a:pPr lvl="0"/>
            <a:r>
              <a:rPr lang="en-IN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Major Use Cases</a:t>
            </a:r>
            <a:endParaRPr lang="en-US" noProof="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77EDD1-5A8E-0F37-E892-65A530E36B20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00980" y="1991866"/>
            <a:ext cx="5594302" cy="2430665"/>
          </a:xfrm>
        </p:spPr>
        <p:txBody>
          <a:bodyPr/>
          <a:lstStyle/>
          <a:p>
            <a:pPr marL="0" lvl="0" indent="0">
              <a:buNone/>
            </a:pPr>
            <a:r>
              <a:rPr lang="en-IN" b="1" dirty="0"/>
              <a:t>Use Case 1 — Campus-to-Azure connectivity</a:t>
            </a:r>
          </a:p>
          <a:p>
            <a:pPr marL="0" lvl="0" indent="0">
              <a:buNone/>
            </a:pPr>
            <a:r>
              <a:rPr lang="en-US" dirty="0"/>
              <a:t>Campus 1 ─┐</a:t>
            </a:r>
          </a:p>
          <a:p>
            <a:pPr marL="0" lvl="0" indent="0">
              <a:buNone/>
            </a:pPr>
            <a:r>
              <a:rPr lang="en-US" dirty="0"/>
              <a:t>Campus 2 ─┼── Virtual WAN Hub ── </a:t>
            </a:r>
            <a:r>
              <a:rPr lang="en-US" dirty="0" err="1"/>
              <a:t>VNet</a:t>
            </a:r>
            <a:r>
              <a:rPr lang="en-US" dirty="0"/>
              <a:t> 1</a:t>
            </a:r>
          </a:p>
          <a:p>
            <a:pPr marL="0" lvl="0" indent="0">
              <a:buNone/>
            </a:pPr>
            <a:r>
              <a:rPr lang="en-US" dirty="0"/>
              <a:t>Campus 3 ─┘                                 └── </a:t>
            </a:r>
            <a:r>
              <a:rPr lang="en-US" dirty="0" err="1"/>
              <a:t>VNet</a:t>
            </a:r>
            <a:r>
              <a:rPr lang="en-US" dirty="0"/>
              <a:t> 2</a:t>
            </a:r>
            <a:endParaRPr lang="en-US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48ADA2-B38F-A25B-C324-05E10CE9CD9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29935" y="4304245"/>
            <a:ext cx="5164553" cy="19822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Use Case 2 — Campus-to-campus communication</a:t>
            </a:r>
            <a:endParaRPr lang="en-US" dirty="0"/>
          </a:p>
          <a:p>
            <a:pPr marL="0" indent="0">
              <a:buNone/>
            </a:pPr>
            <a:r>
              <a:rPr lang="en-IN" b="0" dirty="0"/>
              <a:t>Traffic from Campus 1 can be routed through the Virtual WAN infrastructure to Campus 2 or Campus 3.</a:t>
            </a:r>
            <a:endParaRPr lang="en-US" b="0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1C6761-8A32-2C9C-D18A-A7C46FF58FDA}"/>
              </a:ext>
            </a:extLst>
          </p:cNvPr>
          <p:cNvSpPr txBox="1"/>
          <p:nvPr/>
        </p:nvSpPr>
        <p:spPr>
          <a:xfrm>
            <a:off x="6310032" y="2066191"/>
            <a:ext cx="513789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0635D"/>
                </a:solidFill>
              </a:rPr>
              <a:t>Use Case 3 — </a:t>
            </a:r>
            <a:r>
              <a:rPr lang="en-IN" b="1" dirty="0" err="1">
                <a:solidFill>
                  <a:srgbClr val="00635D"/>
                </a:solidFill>
              </a:rPr>
              <a:t>VNet</a:t>
            </a:r>
            <a:r>
              <a:rPr lang="en-IN" b="1" dirty="0">
                <a:solidFill>
                  <a:srgbClr val="00635D"/>
                </a:solidFill>
              </a:rPr>
              <a:t>-to-campus communication</a:t>
            </a:r>
          </a:p>
          <a:p>
            <a:endParaRPr lang="en-IN" b="1" dirty="0">
              <a:solidFill>
                <a:srgbClr val="00635D"/>
              </a:solidFill>
            </a:endParaRPr>
          </a:p>
          <a:p>
            <a:r>
              <a:rPr lang="en-IN" dirty="0">
                <a:solidFill>
                  <a:srgbClr val="00635D"/>
                </a:solidFill>
              </a:rPr>
              <a:t>Azure workloads in </a:t>
            </a:r>
            <a:r>
              <a:rPr lang="en-IN" dirty="0" err="1">
                <a:solidFill>
                  <a:srgbClr val="00635D"/>
                </a:solidFill>
              </a:rPr>
              <a:t>VNet</a:t>
            </a:r>
            <a:r>
              <a:rPr lang="en-IN" dirty="0">
                <a:solidFill>
                  <a:srgbClr val="00635D"/>
                </a:solidFill>
              </a:rPr>
              <a:t> 1 or </a:t>
            </a:r>
            <a:r>
              <a:rPr lang="en-IN" dirty="0" err="1">
                <a:solidFill>
                  <a:srgbClr val="00635D"/>
                </a:solidFill>
              </a:rPr>
              <a:t>VNet</a:t>
            </a:r>
            <a:r>
              <a:rPr lang="en-IN" dirty="0">
                <a:solidFill>
                  <a:srgbClr val="00635D"/>
                </a:solidFill>
              </a:rPr>
              <a:t> 2 can communicate with campus networks.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4F7590-1F7C-9D39-4793-AA75FD6E8B3A}"/>
              </a:ext>
            </a:extLst>
          </p:cNvPr>
          <p:cNvSpPr txBox="1"/>
          <p:nvPr/>
        </p:nvSpPr>
        <p:spPr>
          <a:xfrm>
            <a:off x="6409592" y="4062046"/>
            <a:ext cx="455284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rgbClr val="00635D"/>
                </a:solidFill>
              </a:rPr>
              <a:t>Use Case 4 — Architecture comparison</a:t>
            </a:r>
          </a:p>
          <a:p>
            <a:endParaRPr lang="en-IN" b="1" dirty="0">
              <a:solidFill>
                <a:srgbClr val="00635D"/>
              </a:solidFill>
            </a:endParaRPr>
          </a:p>
          <a:p>
            <a:r>
              <a:rPr lang="en-US" dirty="0">
                <a:solidFill>
                  <a:srgbClr val="00635D"/>
                </a:solidFill>
              </a:rPr>
              <a:t>Virtual WAN</a:t>
            </a:r>
          </a:p>
          <a:p>
            <a:r>
              <a:rPr lang="en-US" dirty="0">
                <a:solidFill>
                  <a:srgbClr val="00635D"/>
                </a:solidFill>
              </a:rPr>
              <a:t>     VS</a:t>
            </a:r>
          </a:p>
          <a:p>
            <a:r>
              <a:rPr lang="en-US" dirty="0">
                <a:solidFill>
                  <a:srgbClr val="00635D"/>
                </a:solidFill>
              </a:rPr>
              <a:t>Traditional Hub-and-Spoke</a:t>
            </a:r>
            <a:endParaRPr lang="en-IN" dirty="0">
              <a:solidFill>
                <a:srgbClr val="00635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93540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BBFF6-B803-C105-C4A9-94A231970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515" y="219093"/>
            <a:ext cx="10571998" cy="949569"/>
          </a:xfrm>
        </p:spPr>
        <p:txBody>
          <a:bodyPr/>
          <a:lstStyle/>
          <a:p>
            <a:r>
              <a:rPr lang="en-IN" sz="4400" dirty="0"/>
              <a:t>Implementation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1558D5-BBC3-6E2E-9FAB-986B2A1A1F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785" y="422031"/>
            <a:ext cx="11305699" cy="6040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2825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C4727-3F3E-315A-5E4A-B8BD904D2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1" y="79131"/>
            <a:ext cx="10571998" cy="1107831"/>
          </a:xfrm>
        </p:spPr>
        <p:txBody>
          <a:bodyPr/>
          <a:lstStyle/>
          <a:p>
            <a:r>
              <a:rPr lang="en-IN" sz="4800" dirty="0"/>
              <a:t>Expected Outcome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BE1471-A62E-D341-EA91-AF8FBAD1FE44}"/>
              </a:ext>
            </a:extLst>
          </p:cNvPr>
          <p:cNvSpPr txBox="1"/>
          <p:nvPr/>
        </p:nvSpPr>
        <p:spPr>
          <a:xfrm>
            <a:off x="627257" y="1287839"/>
            <a:ext cx="1120718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At the end of the project, we expect to:</a:t>
            </a:r>
          </a:p>
          <a:p>
            <a:endParaRPr lang="en-IN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Successfully connect 3 campuses</a:t>
            </a:r>
            <a:r>
              <a:rPr lang="en-IN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to Azure using Site-to-Site VPN.</a:t>
            </a:r>
          </a:p>
          <a:p>
            <a:pPr marL="342900" lvl="0" indent="-342900">
              <a:buFont typeface="+mj-lt"/>
              <a:buAutoNum type="arabicPeriod"/>
            </a:pPr>
            <a:endParaRPr lang="en-IN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Connect 2 Azure </a:t>
            </a:r>
            <a:r>
              <a:rPr lang="en-IN" b="1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VNets</a:t>
            </a:r>
            <a:r>
              <a:rPr lang="en-IN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to the Virtual WAN Hub.</a:t>
            </a:r>
          </a:p>
          <a:p>
            <a:pPr marL="342900" lvl="0" indent="-342900">
              <a:buFont typeface="+mj-lt"/>
              <a:buAutoNum type="arabicPeriod"/>
            </a:pPr>
            <a:endParaRPr lang="en-IN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Enable </a:t>
            </a:r>
            <a:r>
              <a:rPr lang="en-IN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communication between campuses and Azure </a:t>
            </a:r>
            <a:r>
              <a:rPr lang="en-IN" b="1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VNets</a:t>
            </a:r>
            <a:r>
              <a:rPr lang="en-IN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.</a:t>
            </a:r>
          </a:p>
          <a:p>
            <a:pPr marL="342900" lvl="0" indent="-342900">
              <a:buFont typeface="+mj-lt"/>
              <a:buAutoNum type="arabicPeriod"/>
            </a:pPr>
            <a:endParaRPr lang="en-IN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Configure </a:t>
            </a:r>
            <a:r>
              <a:rPr lang="en-IN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centralized routing</a:t>
            </a:r>
            <a:r>
              <a:rPr lang="en-IN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through the Virtual Hub</a:t>
            </a:r>
          </a:p>
          <a:p>
            <a:pPr marL="342900" lvl="0" indent="-342900">
              <a:buFont typeface="+mj-lt"/>
              <a:buAutoNum type="arabicPeriod"/>
            </a:pPr>
            <a:endParaRPr lang="en-IN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Test network connectivity</a:t>
            </a:r>
            <a:r>
              <a:rPr lang="en-IN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and verify that traffic reaches the correct destination.</a:t>
            </a:r>
          </a:p>
          <a:p>
            <a:pPr marL="342900" lvl="0" indent="-342900">
              <a:buFont typeface="+mj-lt"/>
              <a:buAutoNum type="arabicPeriod"/>
            </a:pPr>
            <a:endParaRPr lang="en-IN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Understand the </a:t>
            </a:r>
            <a:r>
              <a:rPr lang="en-IN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cost and routing challenges</a:t>
            </a:r>
            <a:r>
              <a:rPr lang="en-IN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of Azure Virtual WAN.</a:t>
            </a:r>
          </a:p>
          <a:p>
            <a:pPr marL="342900" lvl="0" indent="-342900">
              <a:buFont typeface="+mj-lt"/>
              <a:buAutoNum type="arabicPeriod"/>
            </a:pPr>
            <a:endParaRPr lang="en-IN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Compare </a:t>
            </a:r>
            <a:r>
              <a:rPr lang="en-IN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Virtual WAN with the traditional hub-and-spoke architecture</a:t>
            </a:r>
            <a:r>
              <a:rPr lang="en-IN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.</a:t>
            </a:r>
          </a:p>
          <a:p>
            <a:pPr marL="342900" lvl="0" indent="-342900">
              <a:buFont typeface="+mj-lt"/>
              <a:buAutoNum type="arabicPeriod"/>
            </a:pPr>
            <a:endParaRPr lang="en-IN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Identify which architecture is more suitable for </a:t>
            </a:r>
            <a:r>
              <a:rPr lang="en-IN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small multi-site environments</a:t>
            </a:r>
            <a:r>
              <a:rPr lang="en-IN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based on cost, scalability, and management requirements.</a:t>
            </a:r>
          </a:p>
          <a:p>
            <a:r>
              <a:rPr lang="en-IN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923883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05011-03FC-652B-2538-4EAE68ABF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660" y="1017858"/>
            <a:ext cx="10650681" cy="2719255"/>
          </a:xfrm>
        </p:spPr>
        <p:txBody>
          <a:bodyPr/>
          <a:lstStyle/>
          <a:p>
            <a:pPr lvl="0"/>
            <a:r>
              <a:rPr lang="en-US" dirty="0"/>
              <a:t>Thank You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636579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381587_Win32_SL_v6" id="{5005B820-A0B7-49EA-8569-DCF0CD2DBB9D}" vid="{2E48C80D-E25D-44C4-BCFD-F1465E9B61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F29F0C84-2C14-4FB8-88C2-9577181F2CC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72B3831-C4F2-498C-8E5F-F8D6F905483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4ACCF44-01D5-4C40-9EAC-D3C3683409F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{ED744DC7-5EDC-4D1D-929B-1C148EFB695F}TF4e23ad37-c1a6-42e6-a6ec-6518d97eca9ec3cad5d6_win32-e4fb00466b0d</Template>
  <TotalTime>679</TotalTime>
  <Words>412</Words>
  <Application>Microsoft Office PowerPoint</Application>
  <PresentationFormat>Widescreen</PresentationFormat>
  <Paragraphs>79</Paragraphs>
  <Slides>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Arial</vt:lpstr>
      <vt:lpstr>Calibri</vt:lpstr>
      <vt:lpstr>Century Gothic</vt:lpstr>
      <vt:lpstr>Crimson Pro Bold</vt:lpstr>
      <vt:lpstr>Wingdings 2</vt:lpstr>
      <vt:lpstr>Quotable</vt:lpstr>
      <vt:lpstr>Azure Virtual WAN Design Study for Multi-Site Connectivity </vt:lpstr>
      <vt:lpstr> Seelam Thanush Reddy – 2400090160   Tummala Himesh – 2400090192   Devagiri Vangmai – 2400090199   Ambati Lahari Naga Sai - 2400090177 </vt:lpstr>
      <vt:lpstr>Problem Statement</vt:lpstr>
      <vt:lpstr>Architecture</vt:lpstr>
      <vt:lpstr>Main Azure Services</vt:lpstr>
      <vt:lpstr>Major Use Cases</vt:lpstr>
      <vt:lpstr>Implementation</vt:lpstr>
      <vt:lpstr>Expected Outcome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SEELAM THANUSH  REDDY</dc:creator>
  <cp:lastModifiedBy>SEELAM THANUSH  REDDY</cp:lastModifiedBy>
  <cp:revision>2</cp:revision>
  <dcterms:created xsi:type="dcterms:W3CDTF">2026-09-26T16:21:10Z</dcterms:created>
  <dcterms:modified xsi:type="dcterms:W3CDTF">2026-09-27T03:40:29Z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